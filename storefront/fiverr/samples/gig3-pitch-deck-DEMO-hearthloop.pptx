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 (demo)</c:v>
                </c:pt>
              </c:strCache>
            </c:strRef>
          </c:tx>
          <c:spPr>
            <a:solidFill>
              <a:srgbClr val="14213D"/>
            </a:solidFill>
          </c:spPr>
          <c:cat>
            <c:strRef>
              <c:f>Sheet1!$A$2:$A$5</c:f>
              <c:strCache>
                <c:ptCount val="4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18</c:v>
                </c:pt>
                <c:pt idx="2">
                  <c:v>29</c:v>
                </c:pt>
                <c:pt idx="3">
                  <c:v>45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DED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pitch. Keep it under 15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pain concrete: the cupboard under the sink.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before and after. One sentence per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for each figure go here in a real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Native PowerPoint chart: right-click &gt; Edit Data to change the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competitor facts, cited. Our own row is the demo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amount and exactly what it buys.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011680"/>
            <a:ext cx="1005840" cy="109728"/>
          </a:xfrm>
          <a:prstGeom prst="rect">
            <a:avLst/>
          </a:prstGeom>
          <a:solidFill>
            <a:srgbClr val="F2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000" b="1" i="0">
                <a:solidFill>
                  <a:srgbClr val="FAF7F2"/>
                </a:solidFill>
                <a:latin typeface="Calibri"/>
              </a:rPr>
              <a:t>Hearthloop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012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0" i="0">
                <a:solidFill>
                  <a:srgbClr val="C9CFDB"/>
                </a:solidFill>
                <a:latin typeface="Calibri"/>
              </a:rPr>
              <a:t>Refill-at-home cleaning for small apartments.
Seed round,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1">
                <a:solidFill>
                  <a:srgbClr val="9AA3B5"/>
                </a:solidFill>
                <a:latin typeface="Calibri"/>
              </a:rPr>
              <a:t>DEMO SAMPLE by Edgex. Hearthloop is a fictional company. All numbers are placeholders, not real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82296"/>
          </a:xfrm>
          <a:prstGeom prst="rect">
            <a:avLst/>
          </a:prstGeom>
          <a:solidFill>
            <a:srgbClr val="F2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115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4213D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8A8F9C"/>
                </a:solidFill>
                <a:latin typeface="Calibri"/>
              </a:rPr>
              <a:t>Hearthloop  |  DEMO SAMPLE, fictional company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949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20">
                <a:solidFill>
                  <a:srgbClr val="F2785C"/>
                </a:solidFill>
                <a:latin typeface="Calibri"/>
              </a:rPr>
              <a:t>■  </a:t>
            </a:r>
            <a:r>
              <a:rPr sz="2200">
                <a:solidFill>
                  <a:srgbClr val="1F2430"/>
                </a:solidFill>
                <a:latin typeface="Calibri"/>
              </a:rPr>
              <a:t>Renters in small apartments buy bulky plastic cleaning bottles they have no room to store.</a:t>
            </a:r>
          </a:p>
          <a:p>
            <a:pPr>
              <a:spcAft>
                <a:spcPts val="1000"/>
              </a:spcAft>
            </a:pPr>
            <a:r>
              <a:rPr sz="1320">
                <a:solidFill>
                  <a:srgbClr val="F2785C"/>
                </a:solidFill>
                <a:latin typeface="Calibri"/>
              </a:rPr>
              <a:t>■  </a:t>
            </a:r>
            <a:r>
              <a:rPr sz="2200">
                <a:solidFill>
                  <a:srgbClr val="1F2430"/>
                </a:solidFill>
                <a:latin typeface="Calibri"/>
              </a:rPr>
              <a:t>Most of those bottles are used once and thrown away.</a:t>
            </a:r>
          </a:p>
          <a:p>
            <a:pPr>
              <a:spcAft>
                <a:spcPts val="1000"/>
              </a:spcAft>
            </a:pPr>
            <a:r>
              <a:rPr sz="1320">
                <a:solidFill>
                  <a:srgbClr val="F2785C"/>
                </a:solidFill>
                <a:latin typeface="Calibri"/>
              </a:rPr>
              <a:t>■  </a:t>
            </a:r>
            <a:r>
              <a:rPr sz="2200">
                <a:solidFill>
                  <a:srgbClr val="1F2430"/>
                </a:solidFill>
                <a:latin typeface="Calibri"/>
              </a:rPr>
              <a:t>Refill shops exist, but they need a trip and planning ahead.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474720" cy="3566160"/>
          </a:xfrm>
          <a:prstGeom prst="round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2103120"/>
            <a:ext cx="2834640" cy="3017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AF7F2"/>
                </a:solidFill>
                <a:latin typeface="Calibri"/>
              </a:rPr>
              <a:t>Small homes, big bottles, and no easy way to refill.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82296"/>
          </a:xfrm>
          <a:prstGeom prst="rect">
            <a:avLst/>
          </a:prstGeom>
          <a:solidFill>
            <a:srgbClr val="F2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115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4213D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8A8F9C"/>
                </a:solidFill>
                <a:latin typeface="Calibri"/>
              </a:rPr>
              <a:t>Hearthloop  |  DEMO SAMPLE, fictional company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27167" cy="3931920"/>
          </a:xfrm>
          <a:prstGeom prst="roundRect">
            <a:avLst/>
          </a:prstGeom>
          <a:solidFill>
            <a:srgbClr val="E7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4404207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4404207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60">
                <a:solidFill>
                  <a:srgbClr val="F2785C"/>
                </a:solidFill>
                <a:latin typeface="Calibri"/>
              </a:rPr>
              <a:t>■  </a:t>
            </a:r>
            <a:r>
              <a:rPr sz="2100">
                <a:solidFill>
                  <a:srgbClr val="1F2430"/>
                </a:solidFill>
                <a:latin typeface="Calibri"/>
              </a:rPr>
              <a:t>Bulky single-use bottles</a:t>
            </a:r>
          </a:p>
          <a:p>
            <a:pPr>
              <a:spcAft>
                <a:spcPts val="1200"/>
              </a:spcAft>
            </a:pPr>
            <a:r>
              <a:rPr sz="1260">
                <a:solidFill>
                  <a:srgbClr val="F2785C"/>
                </a:solidFill>
                <a:latin typeface="Calibri"/>
              </a:rPr>
              <a:t>■  </a:t>
            </a:r>
            <a:r>
              <a:rPr sz="2100">
                <a:solidFill>
                  <a:srgbClr val="1F2430"/>
                </a:solidFill>
                <a:latin typeface="Calibri"/>
              </a:rPr>
              <a:t>Store runs or heavy deliveries</a:t>
            </a:r>
          </a:p>
          <a:p>
            <a:pPr>
              <a:spcAft>
                <a:spcPts val="1200"/>
              </a:spcAft>
            </a:pPr>
            <a:r>
              <a:rPr sz="1260">
                <a:solidFill>
                  <a:srgbClr val="F2785C"/>
                </a:solidFill>
                <a:latin typeface="Calibri"/>
              </a:rPr>
              <a:t>■  </a:t>
            </a:r>
            <a:r>
              <a:rPr sz="2100">
                <a:solidFill>
                  <a:srgbClr val="1F2430"/>
                </a:solidFill>
                <a:latin typeface="Calibri"/>
              </a:rPr>
              <a:t>Storage space eaten 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1828800"/>
            <a:ext cx="5227167" cy="3931920"/>
          </a:xfrm>
          <a:prstGeom prst="round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35927" y="2148840"/>
            <a:ext cx="4404207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 i="0">
                <a:solidFill>
                  <a:srgbClr val="F2785C"/>
                </a:solidFill>
                <a:latin typeface="Calibri"/>
              </a:rPr>
              <a:t>With Hearthloop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5927" y="2926080"/>
            <a:ext cx="4404207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60">
                <a:solidFill>
                  <a:srgbClr val="F2785C"/>
                </a:solidFill>
                <a:latin typeface="Calibri"/>
              </a:rPr>
              <a:t>■  </a:t>
            </a:r>
            <a:r>
              <a:rPr sz="2100">
                <a:solidFill>
                  <a:srgbClr val="FAF7F2"/>
                </a:solidFill>
                <a:latin typeface="Calibri"/>
              </a:rPr>
              <a:t>4 glass bottles, kept for life</a:t>
            </a:r>
          </a:p>
          <a:p>
            <a:pPr>
              <a:spcAft>
                <a:spcPts val="1200"/>
              </a:spcAft>
            </a:pPr>
            <a:r>
              <a:rPr sz="1260">
                <a:solidFill>
                  <a:srgbClr val="F2785C"/>
                </a:solidFill>
                <a:latin typeface="Calibri"/>
              </a:rPr>
              <a:t>■  </a:t>
            </a:r>
            <a:r>
              <a:rPr sz="2100">
                <a:solidFill>
                  <a:srgbClr val="FAF7F2"/>
                </a:solidFill>
                <a:latin typeface="Calibri"/>
              </a:rPr>
              <a:t>Flat, letterbox-sized refill pouches</a:t>
            </a:r>
          </a:p>
          <a:p>
            <a:pPr>
              <a:spcAft>
                <a:spcPts val="1200"/>
              </a:spcAft>
            </a:pPr>
            <a:r>
              <a:rPr sz="1260">
                <a:solidFill>
                  <a:srgbClr val="F2785C"/>
                </a:solidFill>
                <a:latin typeface="Calibri"/>
              </a:rPr>
              <a:t>■  </a:t>
            </a:r>
            <a:r>
              <a:rPr sz="2100">
                <a:solidFill>
                  <a:srgbClr val="FAF7F2"/>
                </a:solidFill>
                <a:latin typeface="Calibri"/>
              </a:rPr>
              <a:t>Mix with tap water in a minute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82296"/>
          </a:xfrm>
          <a:prstGeom prst="rect">
            <a:avLst/>
          </a:prstGeom>
          <a:solidFill>
            <a:srgbClr val="F2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115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4213D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8A8F9C"/>
                </a:solidFill>
                <a:latin typeface="Calibri"/>
              </a:rPr>
              <a:t>Hearthloop  |  DEMO SAMPLE, fictional company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42381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rgbClr val="F2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2783738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4213D"/>
                </a:solidFill>
                <a:latin typeface="Calibri"/>
              </a:rPr>
              <a:t>Pick a 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03320"/>
            <a:ext cx="2783738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1F2430"/>
                </a:solidFill>
                <a:latin typeface="Calibri"/>
              </a:rPr>
              <a:t>Choose a starter kit of four bottles.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1920240"/>
            <a:ext cx="342381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3978" y="2194560"/>
            <a:ext cx="685800" cy="685800"/>
          </a:xfrm>
          <a:prstGeom prst="ellipse">
            <a:avLst/>
          </a:prstGeom>
          <a:solidFill>
            <a:srgbClr val="F2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3978" y="3063240"/>
            <a:ext cx="2783738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4213D"/>
                </a:solidFill>
                <a:latin typeface="Calibri"/>
              </a:rPr>
              <a:t>Set a 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3978" y="3703320"/>
            <a:ext cx="2783738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1F2430"/>
                </a:solidFill>
                <a:latin typeface="Calibri"/>
              </a:rPr>
              <a:t>Choose scents and how often refills arrive.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920240"/>
            <a:ext cx="342381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47836" y="2194560"/>
            <a:ext cx="685800" cy="685800"/>
          </a:xfrm>
          <a:prstGeom prst="ellipse">
            <a:avLst/>
          </a:prstGeom>
          <a:solidFill>
            <a:srgbClr val="F2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7836" y="3063240"/>
            <a:ext cx="2783738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4213D"/>
                </a:solidFill>
                <a:latin typeface="Calibri"/>
              </a:rPr>
              <a:t>Refill at home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7836" y="3703320"/>
            <a:ext cx="2783738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0" i="0">
                <a:solidFill>
                  <a:srgbClr val="1F2430"/>
                </a:solidFill>
                <a:latin typeface="Calibri"/>
              </a:rPr>
              <a:t>Pouches fit the letterbox. Skip or pause anytime.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82296"/>
          </a:xfrm>
          <a:prstGeom prst="rect">
            <a:avLst/>
          </a:prstGeom>
          <a:solidFill>
            <a:srgbClr val="F2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115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4213D"/>
                </a:solidFill>
                <a:latin typeface="Calibri"/>
              </a:rPr>
              <a:t>Market (placeholder)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8A8F9C"/>
                </a:solidFill>
                <a:latin typeface="Calibri"/>
              </a:rPr>
              <a:t>Hearthloop  |  DEMO SAMPLE, fictional company    5</a:t>
            </a:r>
          </a:p>
        </p:txBody>
      </p:sp>
      <p:sp>
        <p:nvSpPr>
          <p:cNvPr id="6" name="Oval 5"/>
          <p:cNvSpPr/>
          <p:nvPr/>
        </p:nvSpPr>
        <p:spPr>
          <a:xfrm>
            <a:off x="1417321" y="1737361"/>
            <a:ext cx="3749038" cy="3749038"/>
          </a:xfrm>
          <a:prstGeom prst="ellipse">
            <a:avLst/>
          </a:prstGeom>
          <a:solidFill>
            <a:srgbClr val="C0C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1" y="1847089"/>
            <a:ext cx="374903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 i="0">
                <a:solidFill>
                  <a:srgbClr val="14213D"/>
                </a:solidFill>
                <a:latin typeface="Calibri"/>
              </a:rPr>
              <a:t>TAM</a:t>
            </a:r>
          </a:p>
        </p:txBody>
      </p:sp>
      <p:sp>
        <p:nvSpPr>
          <p:cNvPr id="8" name="Oval 7"/>
          <p:cNvSpPr/>
          <p:nvPr/>
        </p:nvSpPr>
        <p:spPr>
          <a:xfrm>
            <a:off x="1979677" y="2862073"/>
            <a:ext cx="2624326" cy="2624326"/>
          </a:xfrm>
          <a:prstGeom prst="ellipse">
            <a:avLst/>
          </a:prstGeom>
          <a:solidFill>
            <a:srgbClr val="7B81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79677" y="2971801"/>
            <a:ext cx="2624326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10" name="Oval 9"/>
          <p:cNvSpPr/>
          <p:nvPr/>
        </p:nvSpPr>
        <p:spPr>
          <a:xfrm>
            <a:off x="2542033" y="3986785"/>
            <a:ext cx="1499614" cy="1499614"/>
          </a:xfrm>
          <a:prstGeom prst="ellipse">
            <a:avLst/>
          </a:prstGeom>
          <a:solidFill>
            <a:srgbClr val="F2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2033" y="4096513"/>
            <a:ext cx="149961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4213D"/>
                </a:solidFill>
                <a:latin typeface="Calibri"/>
              </a:rPr>
              <a:t>TAM  $[X]B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5029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1F2430"/>
                </a:solidFill>
                <a:latin typeface="Calibri"/>
              </a:rPr>
              <a:t>Household cleaning products, US. Placeholder.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461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4213D"/>
                </a:solidFill>
                <a:latin typeface="Calibri"/>
              </a:rPr>
              <a:t>SAM  $[Y]M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03320"/>
            <a:ext cx="5029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1F2430"/>
                </a:solidFill>
                <a:latin typeface="Calibri"/>
              </a:rPr>
              <a:t>Online refill buyers in dense cities. Placeholder.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720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4213D"/>
                </a:solidFill>
                <a:latin typeface="Calibri"/>
              </a:rPr>
              <a:t>SOM  $[Z]M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029200"/>
            <a:ext cx="5029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1F2430"/>
                </a:solidFill>
                <a:latin typeface="Calibri"/>
              </a:rPr>
              <a:t>Realistic 3-year share. Placeholder.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1">
                <a:solidFill>
                  <a:srgbClr val="6B7180"/>
                </a:solidFill>
                <a:latin typeface="Calibri"/>
              </a:rPr>
              <a:t>DEMO: in a real order every figure here is taken from a cited public source, linked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82296"/>
          </a:xfrm>
          <a:prstGeom prst="rect">
            <a:avLst/>
          </a:prstGeom>
          <a:solidFill>
            <a:srgbClr val="F2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115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4213D"/>
                </a:solidFill>
                <a:latin typeface="Calibri"/>
              </a:rPr>
              <a:t>Traction (placeholder)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8A8F9C"/>
                </a:solidFill>
                <a:latin typeface="Calibri"/>
              </a:rPr>
              <a:t>Hearthloop  |  DEMO SAMPLE, fictional company    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498079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95359" y="1920240"/>
            <a:ext cx="2926080" cy="3840480"/>
          </a:xfrm>
          <a:prstGeom prst="round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79" y="2194560"/>
            <a:ext cx="2377440" cy="3291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 i="0">
                <a:solidFill>
                  <a:srgbClr val="FAF7F2"/>
                </a:solidFill>
                <a:latin typeface="Calibri"/>
              </a:rPr>
              <a:t>DEMO numbers only. In a real order, the client supplies every traction figure.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82296"/>
          </a:xfrm>
          <a:prstGeom prst="rect">
            <a:avLst/>
          </a:prstGeom>
          <a:solidFill>
            <a:srgbClr val="F2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115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4213D"/>
                </a:solidFill>
                <a:latin typeface="Calibri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8A8F9C"/>
                </a:solidFill>
                <a:latin typeface="Calibri"/>
              </a:rPr>
              <a:t>Hearthloop  |  DEMO SAMPLE, fictional company   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91153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548640">
                <a:tc>
                  <a:txBody>
                    <a:bodyPr/>
                    <a:lstStyle/>
                    <a:p/>
                  </a:txBody>
                  <a:tcPr marL="109728" marR="109728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109728" marR="109728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Entry price</a:t>
                      </a:r>
                    </a:p>
                  </a:txBody>
                  <a:tcPr marL="109728" marR="109728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Small-space fit</a:t>
                      </a:r>
                    </a:p>
                  </a:txBody>
                  <a:tcPr marL="109728" marR="109728">
                    <a:solidFill>
                      <a:srgbClr val="1421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430"/>
                          </a:solidFill>
                          <a:latin typeface="Calibri"/>
                        </a:rPr>
                        <a:t>Blueland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430"/>
                          </a:solidFill>
                          <a:latin typeface="Calibri"/>
                        </a:rPr>
                        <a:t>Dissolvable tablets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430"/>
                          </a:solidFill>
                          <a:latin typeface="Calibri"/>
                        </a:rPr>
                        <a:t>Tablets from $0.32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430"/>
                          </a:solidFill>
                          <a:latin typeface="Calibri"/>
                        </a:rPr>
                        <a:t>One bottle per product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430"/>
                          </a:solidFill>
                          <a:latin typeface="Calibri"/>
                        </a:rPr>
                        <a:t>Branch Basics</a:t>
                      </a:r>
                    </a:p>
                  </a:txBody>
                  <a:tcPr marL="109728" marR="109728">
                    <a:solidFill>
                      <a:srgbClr val="EE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430"/>
                          </a:solidFill>
                          <a:latin typeface="Calibri"/>
                        </a:rPr>
                        <a:t>Liquid concentrate</a:t>
                      </a:r>
                    </a:p>
                  </a:txBody>
                  <a:tcPr marL="109728" marR="109728">
                    <a:solidFill>
                      <a:srgbClr val="EE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430"/>
                          </a:solidFill>
                          <a:latin typeface="Calibri"/>
                        </a:rPr>
                        <a:t>Kits about $75-$125</a:t>
                      </a:r>
                    </a:p>
                  </a:txBody>
                  <a:tcPr marL="109728" marR="109728">
                    <a:solidFill>
                      <a:srgbClr val="EEEC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430"/>
                          </a:solidFill>
                          <a:latin typeface="Calibri"/>
                        </a:rPr>
                        <a:t>Several bottles</a:t>
                      </a:r>
                    </a:p>
                  </a:txBody>
                  <a:tcPr marL="109728" marR="109728">
                    <a:solidFill>
                      <a:srgbClr val="EEEC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430"/>
                          </a:solidFill>
                          <a:latin typeface="Calibri"/>
                        </a:rPr>
                        <a:t>Cleancult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430"/>
                          </a:solidFill>
                          <a:latin typeface="Calibri"/>
                        </a:rPr>
                        <a:t>Refill cartons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430"/>
                          </a:solidFill>
                          <a:latin typeface="Calibri"/>
                        </a:rPr>
                        <a:t>Bottles from $4.99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430"/>
                          </a:solidFill>
                          <a:latin typeface="Calibri"/>
                        </a:rPr>
                        <a:t>Cartons still single-use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2430"/>
                          </a:solidFill>
                          <a:latin typeface="Calibri"/>
                        </a:rPr>
                        <a:t>Hearthloop (demo)</a:t>
                      </a:r>
                    </a:p>
                  </a:txBody>
                  <a:tcPr marL="109728" marR="109728">
                    <a:solidFill>
                      <a:srgbClr val="FCE4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430"/>
                          </a:solidFill>
                          <a:latin typeface="Calibri"/>
                        </a:rPr>
                        <a:t>Letterbox pouches</a:t>
                      </a:r>
                    </a:p>
                  </a:txBody>
                  <a:tcPr marL="109728" marR="109728">
                    <a:solidFill>
                      <a:srgbClr val="FCE4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430"/>
                          </a:solidFill>
                          <a:latin typeface="Calibri"/>
                        </a:rPr>
                        <a:t>[client sets]</a:t>
                      </a:r>
                    </a:p>
                  </a:txBody>
                  <a:tcPr marL="109728" marR="109728">
                    <a:solidFill>
                      <a:srgbClr val="FCE4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430"/>
                          </a:solidFill>
                          <a:latin typeface="Calibri"/>
                        </a:rPr>
                        <a:t>Built for small homes</a:t>
                      </a:r>
                    </a:p>
                  </a:txBody>
                  <a:tcPr marL="109728" marR="109728">
                    <a:solidFill>
                      <a:srgbClr val="FCE4D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1">
                <a:solidFill>
                  <a:srgbClr val="6B7180"/>
                </a:solidFill>
                <a:latin typeface="Calibri"/>
              </a:rPr>
              <a:t>Competitor prices from public pages found 2026-09-25 (blueland.com, branchbasics.com, cleancult.com). Hearthloop row is fictional.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0" cy="82296"/>
          </a:xfrm>
          <a:prstGeom prst="rect">
            <a:avLst/>
          </a:prstGeom>
          <a:solidFill>
            <a:srgbClr val="F2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11535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 i="0">
                <a:solidFill>
                  <a:srgbClr val="14213D"/>
                </a:solidFill>
                <a:latin typeface="Calibri"/>
              </a:rPr>
              <a:t>Team (placeholder)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0">
                <a:solidFill>
                  <a:srgbClr val="8A8F9C"/>
                </a:solidFill>
                <a:latin typeface="Calibri"/>
              </a:rPr>
              <a:t>Hearthloop  |  DEMO SAMPLE, fictional company  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23818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57629" y="2103120"/>
            <a:ext cx="1188720" cy="1188720"/>
          </a:xfrm>
          <a:prstGeom prst="ellipse">
            <a:avLst/>
          </a:prstGeom>
          <a:solidFill>
            <a:srgbClr val="D7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305805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14213D"/>
                </a:solidFill>
                <a:latin typeface="Calibri"/>
              </a:rPr>
              <a:t>[Founder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305805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2785C"/>
                </a:solidFill>
                <a:latin typeface="Calibri"/>
              </a:rPr>
              <a:t>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2875178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0">
                <a:solidFill>
                  <a:srgbClr val="1F2430"/>
                </a:solidFill>
                <a:latin typeface="Calibri"/>
              </a:rPr>
              <a:t>Client supplies real background.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938" y="1828800"/>
            <a:ext cx="3423818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103120"/>
            <a:ext cx="1188720" cy="1188720"/>
          </a:xfrm>
          <a:prstGeom prst="ellipse">
            <a:avLst/>
          </a:prstGeom>
          <a:solidFill>
            <a:srgbClr val="D7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3474720"/>
            <a:ext cx="305805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14213D"/>
                </a:solidFill>
                <a:latin typeface="Calibri"/>
              </a:rPr>
              <a:t>[Co-founder]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3931920"/>
            <a:ext cx="305805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2785C"/>
                </a:solidFill>
                <a:latin typeface="Calibri"/>
              </a:rPr>
              <a:t>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8258" y="4389120"/>
            <a:ext cx="2875178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0">
                <a:solidFill>
                  <a:srgbClr val="1F2430"/>
                </a:solidFill>
                <a:latin typeface="Calibri"/>
              </a:rPr>
              <a:t>Client supplies real background.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1828800"/>
            <a:ext cx="3423818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45345" y="2103120"/>
            <a:ext cx="1188720" cy="1188720"/>
          </a:xfrm>
          <a:prstGeom prst="ellipse">
            <a:avLst/>
          </a:prstGeom>
          <a:solidFill>
            <a:srgbClr val="D7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0676" y="3474720"/>
            <a:ext cx="305805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1" i="0">
                <a:solidFill>
                  <a:srgbClr val="14213D"/>
                </a:solidFill>
                <a:latin typeface="Calibri"/>
              </a:rPr>
              <a:t>[Advisor]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0676" y="3931920"/>
            <a:ext cx="3058058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 i="0">
                <a:solidFill>
                  <a:srgbClr val="F2785C"/>
                </a:solidFill>
                <a:latin typeface="Calibri"/>
              </a:rPr>
              <a:t>Advisor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2116" y="4389120"/>
            <a:ext cx="2875178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0">
                <a:solidFill>
                  <a:srgbClr val="1F2430"/>
                </a:solidFill>
                <a:latin typeface="Calibri"/>
              </a:rPr>
              <a:t>Client supplies real background.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5486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 i="0">
                <a:solidFill>
                  <a:srgbClr val="C9CFDB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600" b="1" i="0">
                <a:solidFill>
                  <a:srgbClr val="FAF7F2"/>
                </a:solidFill>
                <a:latin typeface="Calibri"/>
              </a:rPr>
              <a:t>$[amount]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880360"/>
            <a:ext cx="1005840" cy="109728"/>
          </a:xfrm>
          <a:prstGeom prst="rect">
            <a:avLst/>
          </a:prstGeom>
          <a:solidFill>
            <a:srgbClr val="F2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C9CFDB"/>
                </a:solidFill>
                <a:latin typeface="Calibri"/>
              </a:rPr>
              <a:t>DEMO SAMPLE by Edgex. Fictional company; placeholder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18872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F2785C"/>
                </a:solidFill>
                <a:latin typeface="Calibri"/>
              </a:rP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0">
                <a:solidFill>
                  <a:srgbClr val="FAF7F2"/>
                </a:solidFill>
                <a:latin typeface="Calibri"/>
              </a:rPr>
              <a:t>Product and packaging  40%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2240280"/>
            <a:ext cx="4846320" cy="164592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2240280"/>
            <a:ext cx="1938528" cy="164592"/>
          </a:xfrm>
          <a:prstGeom prst="rect">
            <a:avLst/>
          </a:prstGeom>
          <a:solidFill>
            <a:srgbClr val="F2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74320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0">
                <a:solidFill>
                  <a:srgbClr val="FAF7F2"/>
                </a:solidFill>
                <a:latin typeface="Calibri"/>
              </a:rPr>
              <a:t>First marketing tests  35%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154680"/>
            <a:ext cx="4846320" cy="164592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3154680"/>
            <a:ext cx="1696212" cy="164592"/>
          </a:xfrm>
          <a:prstGeom prst="rect">
            <a:avLst/>
          </a:prstGeom>
          <a:solidFill>
            <a:srgbClr val="F2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65760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0">
                <a:solidFill>
                  <a:srgbClr val="FAF7F2"/>
                </a:solidFill>
                <a:latin typeface="Calibri"/>
              </a:rPr>
              <a:t>Operations  25%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4069080"/>
            <a:ext cx="4846320" cy="164592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4069080"/>
            <a:ext cx="1211580" cy="164592"/>
          </a:xfrm>
          <a:prstGeom prst="rect">
            <a:avLst/>
          </a:prstGeom>
          <a:solidFill>
            <a:srgbClr val="F2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